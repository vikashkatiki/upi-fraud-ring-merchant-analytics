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Crimson Pro SemiBold" panose="020B0604020202020204" charset="0"/>
      <p:regular r:id="rId13"/>
    </p:embeddedFont>
    <p:embeddedFont>
      <p:font typeface="Heebo" pitchFamily="2" charset="-79"/>
      <p:regular r:id="rId14"/>
      <p:bold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3225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95123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UPI Fraud Ring &amp; Merchant Analytics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208139"/>
            <a:ext cx="629686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FinTech &amp; BFSI — Data‑Driven Fraud Intelligence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5233360" y="3786882"/>
            <a:ext cx="6296860" cy="11198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Datathon project • Team project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Technologies: Python • Pandas • Plotly • Streamlit • NetworkX • Jupyter • GitHub</a:t>
            </a:r>
            <a:endParaRPr lang="en-US" sz="145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6CF3625-CCAD-F43B-4131-10677D5673A7}"/>
              </a:ext>
            </a:extLst>
          </p:cNvPr>
          <p:cNvSpPr/>
          <p:nvPr/>
        </p:nvSpPr>
        <p:spPr>
          <a:xfrm>
            <a:off x="10933061" y="6477098"/>
            <a:ext cx="1194318" cy="295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74208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Problem Statement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1075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2710755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Volume &amp; Complexity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3119438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UPI systems produce high-velocity transaction data that hides multi-party patterns.</a:t>
            </a:r>
            <a:endParaRPr lang="en-US" sz="1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13915" y="271075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922617" y="2710755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Multi-source Investigation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6922617" y="3119438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Effective triage requires fusing Transactions, KYC, Merchant Master, and Chargebacks.</a:t>
            </a:r>
            <a:endParaRPr lang="en-US" sz="14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4102298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70177" y="4102298"/>
            <a:ext cx="46075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Connected Risk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1370177" y="4510980"/>
            <a:ext cx="460750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Simple transaction-level alerts miss velocity, repeated actors, identity anomalies, and connected clusters.</a:t>
            </a:r>
            <a:endParaRPr lang="en-US" sz="14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3915" y="4102298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22617" y="4102298"/>
            <a:ext cx="460760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Objective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6922617" y="4510980"/>
            <a:ext cx="4607603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Deliver an explainable analytics framework to surface suspicious transactions and prioritize investigations.</a:t>
            </a:r>
            <a:endParaRPr lang="en-US" sz="145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9DFB9A3-5C71-6A7D-6B47-5E0F99E5250C}"/>
              </a:ext>
            </a:extLst>
          </p:cNvPr>
          <p:cNvSpPr/>
          <p:nvPr/>
        </p:nvSpPr>
        <p:spPr>
          <a:xfrm>
            <a:off x="10933061" y="6477098"/>
            <a:ext cx="1194318" cy="295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Dataset &amp; Data Architecture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329" y="909538"/>
            <a:ext cx="7438938" cy="59053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17586" y="3377168"/>
            <a:ext cx="1336832" cy="9170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Post-cleaning Dataset Sizes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6732682" y="1629154"/>
            <a:ext cx="1988775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UPI Transactions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732682" y="2021791"/>
            <a:ext cx="1988775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20,000 rows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3417772" y="1476312"/>
            <a:ext cx="1988776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Transactions → Merchants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417772" y="2174634"/>
            <a:ext cx="1988776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Merchant linkage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3417772" y="5509326"/>
            <a:ext cx="1988776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Chargebacks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3417772" y="5901963"/>
            <a:ext cx="1988776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2,800 rows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732682" y="5509326"/>
            <a:ext cx="1988775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Merchant Master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732682" y="5901963"/>
            <a:ext cx="1988775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6,198 rows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450007" y="3542068"/>
            <a:ext cx="2032250" cy="305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KYC Records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7450007" y="3934705"/>
            <a:ext cx="2032250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36,122 rows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2689579" y="3400094"/>
            <a:ext cx="2032250" cy="611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Transactions → Users/KYC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2689579" y="4098417"/>
            <a:ext cx="2032250" cy="1834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78000"/>
              </a:lnSpc>
              <a:buNone/>
            </a:pPr>
            <a:r>
              <a:rPr lang="en-US" sz="15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Identity enrichment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661475" y="6867922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Post-cleaning dataset sizes shown above. Key relationships enable enrichment and investigation-level evidence.</a:t>
            </a:r>
            <a:endParaRPr lang="en-US" sz="70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D818928-562D-657A-4A9B-8C13192F0B84}"/>
              </a:ext>
            </a:extLst>
          </p:cNvPr>
          <p:cNvSpPr/>
          <p:nvPr/>
        </p:nvSpPr>
        <p:spPr>
          <a:xfrm>
            <a:off x="10933061" y="6477098"/>
            <a:ext cx="1194318" cy="295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638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Data Quality &amp; Cleaning</a:t>
            </a:r>
            <a:endParaRPr lang="en-US" sz="3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662138"/>
            <a:ext cx="4092473" cy="2319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85340" y="1512689"/>
            <a:ext cx="635123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Key data issues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5185340" y="1945481"/>
            <a:ext cx="6351230" cy="123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Exact duplicates, missing/negative amounts, missing UTRs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Mixed timestamp formats, inconsistent statuses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Duplicate/conflicting KYC identities; merchant master conflicts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Char char="•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Missing/invalid chargeback amounts; negative reporting delays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5185340" y="3345755"/>
            <a:ext cx="635123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Cleaning pipeline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5185340" y="3778548"/>
            <a:ext cx="6351230" cy="123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74320" indent="-274320" algn="l">
              <a:lnSpc>
                <a:spcPct val="128000"/>
              </a:lnSpc>
              <a:buSzPct val="100000"/>
              <a:buFont typeface="+mj-lt"/>
              <a:buAutoNum type="arabicPeriod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Normalize → Validate → Deduplicate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Font typeface="+mj-lt"/>
              <a:buAutoNum type="arabicPeriod" startAt="2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Standardize formats → Join sources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Font typeface="+mj-lt"/>
              <a:buAutoNum type="arabicPeriod" startAt="3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Preserve unmatched records with match flags</a:t>
            </a:r>
            <a:endParaRPr lang="en-US" sz="1350" dirty="0"/>
          </a:p>
          <a:p>
            <a:pPr marL="274320" indent="-274320" algn="l">
              <a:lnSpc>
                <a:spcPct val="128000"/>
              </a:lnSpc>
              <a:buSzPct val="100000"/>
              <a:buFont typeface="+mj-lt"/>
              <a:buAutoNum type="arabicPeriod" startAt="4"/>
            </a:pPr>
            <a:r>
              <a:rPr lang="en-US" sz="13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Create quality flags for downstream triage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5185340" y="5198864"/>
            <a:ext cx="6351230" cy="911820"/>
          </a:xfrm>
          <a:prstGeom prst="roundRect">
            <a:avLst>
              <a:gd name="adj" fmla="val 2867"/>
            </a:avLst>
          </a:prstGeom>
          <a:solidFill>
            <a:srgbClr val="CCD7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564" y="5434707"/>
            <a:ext cx="217780" cy="1742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751567" y="5386983"/>
            <a:ext cx="5610779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Unmatched KYC/merchant records were preserved and flagged — NOT automatically labeled as fraud.</a:t>
            </a:r>
            <a:endParaRPr lang="en-US" sz="13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C828030-DBAD-6F53-057A-4D267BAA09EA}"/>
              </a:ext>
            </a:extLst>
          </p:cNvPr>
          <p:cNvSpPr/>
          <p:nvPr/>
        </p:nvSpPr>
        <p:spPr>
          <a:xfrm>
            <a:off x="10933061" y="6477098"/>
            <a:ext cx="1194318" cy="295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Integration &amp; Feature Engineering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7645" y="909538"/>
            <a:ext cx="9696406" cy="52986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526245" y="3392284"/>
            <a:ext cx="2246753" cy="3056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Raw Transactions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8199678" y="3204965"/>
            <a:ext cx="2246753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Enriched KYC &amp; Merchant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5428174" y="3216004"/>
            <a:ext cx="2246753" cy="611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Feature Engineered Fact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661475" y="626129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Final fact table: 20,000 transactions • 95 columns — enriched signals power explainable risk scoring and investigations.</a:t>
            </a:r>
            <a:endParaRPr lang="en-US" sz="7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6CB5348-4A26-FE73-F121-4C28B5EA5092}"/>
              </a:ext>
            </a:extLst>
          </p:cNvPr>
          <p:cNvSpPr/>
          <p:nvPr/>
        </p:nvSpPr>
        <p:spPr>
          <a:xfrm>
            <a:off x="10933061" y="6486429"/>
            <a:ext cx="1194318" cy="295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4612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Executive Transaction Insights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61475" y="1492349"/>
            <a:ext cx="5342796" cy="1067891"/>
          </a:xfrm>
          <a:prstGeom prst="roundRect">
            <a:avLst>
              <a:gd name="adj" fmla="val 2614"/>
            </a:avLst>
          </a:prstGeom>
          <a:solidFill>
            <a:srgbClr val="F2EEEE"/>
          </a:solidFill>
          <a:ln/>
        </p:spPr>
      </p:sp>
      <p:sp>
        <p:nvSpPr>
          <p:cNvPr id="4" name="Text 2"/>
          <p:cNvSpPr/>
          <p:nvPr/>
        </p:nvSpPr>
        <p:spPr>
          <a:xfrm>
            <a:off x="847505" y="1678384"/>
            <a:ext cx="49707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Transactions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47505" y="2078930"/>
            <a:ext cx="49707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20,000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187424" y="1492349"/>
            <a:ext cx="5342796" cy="1067891"/>
          </a:xfrm>
          <a:prstGeom prst="roundRect">
            <a:avLst>
              <a:gd name="adj" fmla="val 2614"/>
            </a:avLst>
          </a:prstGeom>
          <a:solidFill>
            <a:srgbClr val="F2EEEE"/>
          </a:solidFill>
          <a:ln/>
        </p:spPr>
      </p:sp>
      <p:sp>
        <p:nvSpPr>
          <p:cNvPr id="7" name="Text 5"/>
          <p:cNvSpPr/>
          <p:nvPr/>
        </p:nvSpPr>
        <p:spPr>
          <a:xfrm>
            <a:off x="6373455" y="1678384"/>
            <a:ext cx="49707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Total Value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373455" y="2078930"/>
            <a:ext cx="49707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₹214,057,673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61475" y="2743398"/>
            <a:ext cx="5342796" cy="1067891"/>
          </a:xfrm>
          <a:prstGeom prst="roundRect">
            <a:avLst>
              <a:gd name="adj" fmla="val 2614"/>
            </a:avLst>
          </a:prstGeom>
          <a:solidFill>
            <a:srgbClr val="F2EEEE"/>
          </a:solidFill>
          <a:ln/>
        </p:spPr>
      </p:sp>
      <p:sp>
        <p:nvSpPr>
          <p:cNvPr id="10" name="Text 8"/>
          <p:cNvSpPr/>
          <p:nvPr/>
        </p:nvSpPr>
        <p:spPr>
          <a:xfrm>
            <a:off x="847505" y="2929434"/>
            <a:ext cx="49707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Average Value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47505" y="3329980"/>
            <a:ext cx="49707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₹11,893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187424" y="2743398"/>
            <a:ext cx="5342796" cy="1067891"/>
          </a:xfrm>
          <a:prstGeom prst="roundRect">
            <a:avLst>
              <a:gd name="adj" fmla="val 2614"/>
            </a:avLst>
          </a:prstGeom>
          <a:solidFill>
            <a:srgbClr val="F2EEEE"/>
          </a:solidFill>
          <a:ln/>
        </p:spPr>
      </p:sp>
      <p:sp>
        <p:nvSpPr>
          <p:cNvPr id="13" name="Text 11"/>
          <p:cNvSpPr/>
          <p:nvPr/>
        </p:nvSpPr>
        <p:spPr>
          <a:xfrm>
            <a:off x="6373455" y="2929434"/>
            <a:ext cx="49707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Successful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373455" y="3329980"/>
            <a:ext cx="49707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17,053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61475" y="3994448"/>
            <a:ext cx="5342796" cy="1067891"/>
          </a:xfrm>
          <a:prstGeom prst="roundRect">
            <a:avLst>
              <a:gd name="adj" fmla="val 2614"/>
            </a:avLst>
          </a:prstGeom>
          <a:solidFill>
            <a:srgbClr val="F2EEEE"/>
          </a:solidFill>
          <a:ln/>
        </p:spPr>
      </p:sp>
      <p:sp>
        <p:nvSpPr>
          <p:cNvPr id="16" name="Text 14"/>
          <p:cNvSpPr/>
          <p:nvPr/>
        </p:nvSpPr>
        <p:spPr>
          <a:xfrm>
            <a:off x="847505" y="4180483"/>
            <a:ext cx="49707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Failed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7505" y="4581029"/>
            <a:ext cx="49707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1,955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187424" y="3994448"/>
            <a:ext cx="5342796" cy="1067891"/>
          </a:xfrm>
          <a:prstGeom prst="roundRect">
            <a:avLst>
              <a:gd name="adj" fmla="val 2614"/>
            </a:avLst>
          </a:prstGeom>
          <a:solidFill>
            <a:srgbClr val="F2EEEE"/>
          </a:solidFill>
          <a:ln/>
        </p:spPr>
      </p:sp>
      <p:sp>
        <p:nvSpPr>
          <p:cNvPr id="19" name="Text 17"/>
          <p:cNvSpPr/>
          <p:nvPr/>
        </p:nvSpPr>
        <p:spPr>
          <a:xfrm>
            <a:off x="6373455" y="4180483"/>
            <a:ext cx="49707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Pending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73455" y="4581029"/>
            <a:ext cx="49707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992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661475" y="5245497"/>
            <a:ext cx="5342796" cy="1067891"/>
          </a:xfrm>
          <a:prstGeom prst="roundRect">
            <a:avLst>
              <a:gd name="adj" fmla="val 2614"/>
            </a:avLst>
          </a:prstGeom>
          <a:solidFill>
            <a:srgbClr val="F2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847505" y="5431532"/>
            <a:ext cx="49707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Chargeback Txns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47505" y="5832078"/>
            <a:ext cx="49707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2,451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6187424" y="5245497"/>
            <a:ext cx="5342796" cy="1067891"/>
          </a:xfrm>
          <a:prstGeom prst="roundRect">
            <a:avLst>
              <a:gd name="adj" fmla="val 2614"/>
            </a:avLst>
          </a:prstGeom>
          <a:solidFill>
            <a:srgbClr val="F2EEEE"/>
          </a:solidFill>
          <a:ln/>
        </p:spPr>
      </p:sp>
      <p:sp>
        <p:nvSpPr>
          <p:cNvPr id="25" name="Text 23"/>
          <p:cNvSpPr/>
          <p:nvPr/>
        </p:nvSpPr>
        <p:spPr>
          <a:xfrm>
            <a:off x="6373455" y="5431532"/>
            <a:ext cx="497073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Fraud/Unauthorized Chargebacks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373455" y="5832078"/>
            <a:ext cx="497073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873</a:t>
            </a:r>
            <a:endParaRPr lang="en-US" sz="14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5EA11F-8EE0-3000-46D7-126AAB5947F5}"/>
              </a:ext>
            </a:extLst>
          </p:cNvPr>
          <p:cNvSpPr/>
          <p:nvPr/>
        </p:nvSpPr>
        <p:spPr>
          <a:xfrm>
            <a:off x="10933061" y="6477098"/>
            <a:ext cx="1194318" cy="295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7120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Merchant &amp; Category Intelligence</a:t>
            </a:r>
            <a:endParaRPr lang="en-US" sz="29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3047305"/>
            <a:ext cx="740947" cy="9262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46583" y="3047305"/>
            <a:ext cx="1669909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Merchant Coverage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1546583" y="3393281"/>
            <a:ext cx="1669909" cy="1051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8,051 merchant IDs appear in the transaction fact table; 658 meet ≥5 txn threshold for meaningful ranking.</a:t>
            </a:r>
            <a:endParaRPr lang="en-US" sz="11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60653" y="3047305"/>
            <a:ext cx="740947" cy="92620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45762" y="3047305"/>
            <a:ext cx="1670008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Priority Merchants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4245762" y="3393281"/>
            <a:ext cx="1670008" cy="10517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88 merchants meet priority: ≥5 transactions AND ≥2 chargebacks (example candidates to review).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6282275" y="1356916"/>
            <a:ext cx="5254295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Category chargeback ratios (examples)</a:t>
            </a:r>
            <a:endParaRPr lang="en-US" sz="14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2275" y="1717377"/>
            <a:ext cx="5254295" cy="378212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282275" y="5629275"/>
            <a:ext cx="5254295" cy="491728"/>
          </a:xfrm>
          <a:prstGeom prst="roundRect">
            <a:avLst>
              <a:gd name="adj" fmla="val 4505"/>
            </a:avLst>
          </a:prstGeom>
          <a:solidFill>
            <a:srgbClr val="CCD7FF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909" y="5798344"/>
            <a:ext cx="184542" cy="1476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762085" y="5769967"/>
            <a:ext cx="5236436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high chargeback ratio is a risk signal — not proof of merchant fraud.</a:t>
            </a:r>
            <a:endParaRPr lang="en-US" sz="11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4EF2E9-BE38-7CD1-E29F-7C194D2E6694}"/>
              </a:ext>
            </a:extLst>
          </p:cNvPr>
          <p:cNvSpPr/>
          <p:nvPr/>
        </p:nvSpPr>
        <p:spPr>
          <a:xfrm>
            <a:off x="10933061" y="6477098"/>
            <a:ext cx="1194318" cy="295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346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Explainable Fraud‑Risk Scoring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1384498"/>
            <a:ext cx="5362044" cy="412700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243281" y="1508522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1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845819" y="2045990"/>
            <a:ext cx="49933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Weighted signals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45819" y="2391271"/>
            <a:ext cx="4993356" cy="2935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Fraud/Unauthorized Chargeback: 30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Chargeback: 15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Strong Identity Anomaly: 15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Repeated Chargeback User: 10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Chargeback Merchant: 10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High‑Risk User: 5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KYC Rejected Transaction: 5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Velocity Anomaly: 5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High‑Value Transaction: 3</a:t>
            </a:r>
            <a:endParaRPr lang="en-US" sz="1300" dirty="0"/>
          </a:p>
          <a:p>
            <a:pPr marL="264160" indent="-264160" algn="l">
              <a:lnSpc>
                <a:spcPct val="12500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Risky Merchant Status: 2</a:t>
            </a:r>
            <a:endParaRPr lang="en-US" sz="13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68176" y="1384498"/>
            <a:ext cx="5362044" cy="41270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49982" y="1508522"/>
            <a:ext cx="198433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2</a:t>
            </a:r>
            <a:endParaRPr lang="en-US" sz="1550" dirty="0"/>
          </a:p>
        </p:txBody>
      </p:sp>
      <p:sp>
        <p:nvSpPr>
          <p:cNvPr id="9" name="Text 5"/>
          <p:cNvSpPr/>
          <p:nvPr/>
        </p:nvSpPr>
        <p:spPr>
          <a:xfrm>
            <a:off x="6352520" y="2045990"/>
            <a:ext cx="499335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 bands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6352520" y="2391271"/>
            <a:ext cx="4993356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LOW: 0–19 • MEDIUM: 20–39 • HIGH: 40–59 • CRITICAL: 60+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61475" y="5674221"/>
            <a:ext cx="10868745" cy="605433"/>
          </a:xfrm>
          <a:prstGeom prst="roundRect">
            <a:avLst>
              <a:gd name="adj" fmla="val 4098"/>
            </a:avLst>
          </a:prstGeom>
          <a:solidFill>
            <a:srgbClr val="CCD7FF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769" y="5886946"/>
            <a:ext cx="206667" cy="16529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198731" y="5860157"/>
            <a:ext cx="1077578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Score = explainable risk ranking for prioritization — NOT a calibrated fraud probability.</a:t>
            </a:r>
            <a:endParaRPr lang="en-US" sz="13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CB0D665-8020-DDFA-2E37-2835B7FB73F3}"/>
              </a:ext>
            </a:extLst>
          </p:cNvPr>
          <p:cNvSpPr/>
          <p:nvPr/>
        </p:nvSpPr>
        <p:spPr>
          <a:xfrm>
            <a:off x="10933061" y="6477098"/>
            <a:ext cx="1194318" cy="295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7012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 Results &amp; Triage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5686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5715298"/>
            <a:ext cx="5813379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 + CRITICAL = 882 transactions flagged for investigation.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332776" y="1756866"/>
            <a:ext cx="2507394" cy="2374404"/>
          </a:xfrm>
          <a:prstGeom prst="roundRect">
            <a:avLst>
              <a:gd name="adj" fmla="val 1194"/>
            </a:avLst>
          </a:prstGeom>
          <a:solidFill>
            <a:srgbClr val="F2EEEE"/>
          </a:solidFill>
          <a:ln/>
        </p:spPr>
      </p:sp>
      <p:sp>
        <p:nvSpPr>
          <p:cNvPr id="6" name="Text 3"/>
          <p:cNvSpPr/>
          <p:nvPr/>
        </p:nvSpPr>
        <p:spPr>
          <a:xfrm>
            <a:off x="6521783" y="1945878"/>
            <a:ext cx="212938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Fraud evidence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521783" y="2430165"/>
            <a:ext cx="2129380" cy="1512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873 transactions with fraud/unauthorized chargeback evidence (used as a high-weight signal).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9029176" y="1756866"/>
            <a:ext cx="2507394" cy="2374404"/>
          </a:xfrm>
          <a:prstGeom prst="roundRect">
            <a:avLst>
              <a:gd name="adj" fmla="val 1194"/>
            </a:avLst>
          </a:prstGeom>
          <a:solidFill>
            <a:srgbClr val="F2EEEE"/>
          </a:solidFill>
          <a:ln/>
        </p:spPr>
      </p:sp>
      <p:sp>
        <p:nvSpPr>
          <p:cNvPr id="9" name="Text 6"/>
          <p:cNvSpPr/>
          <p:nvPr/>
        </p:nvSpPr>
        <p:spPr>
          <a:xfrm>
            <a:off x="9218183" y="1945878"/>
            <a:ext cx="2129380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Investigation guidance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218183" y="2725440"/>
            <a:ext cx="2129380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High/critical items are investigation candidates — not automatically labeled fraudulent.</a:t>
            </a:r>
            <a:endParaRPr lang="en-US" sz="1450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BB80BF2-12DE-F96A-A727-BF3EF31E5A3F}"/>
              </a:ext>
            </a:extLst>
          </p:cNvPr>
          <p:cNvSpPr/>
          <p:nvPr/>
        </p:nvSpPr>
        <p:spPr>
          <a:xfrm>
            <a:off x="10933061" y="6477098"/>
            <a:ext cx="1194318" cy="295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8848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Investigation Workflow &amp; Network Overview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29705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Investigation pipeline</a:t>
            </a:r>
            <a:endParaRPr lang="en-US" sz="18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437606"/>
            <a:ext cx="5203794" cy="23417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45331" y="2534867"/>
            <a:ext cx="910662" cy="140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Risk Scoring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1445331" y="2715628"/>
            <a:ext cx="910662" cy="225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Compute threat score per case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2345986" y="4291188"/>
            <a:ext cx="915666" cy="140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High/Critical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345986" y="4471949"/>
            <a:ext cx="915666" cy="225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Select top-risk items for P1/P2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3236634" y="2517354"/>
            <a:ext cx="910662" cy="140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Evidence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3236634" y="2698115"/>
            <a:ext cx="910662" cy="225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Extract transaction and network data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137289" y="4220822"/>
            <a:ext cx="910662" cy="2814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Investigator Review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137289" y="4542314"/>
            <a:ext cx="910662" cy="225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7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Analyst validates and assigns action</a:t>
            </a:r>
            <a:endParaRPr lang="en-US" sz="700" dirty="0"/>
          </a:p>
        </p:txBody>
      </p:sp>
      <p:sp>
        <p:nvSpPr>
          <p:cNvPr id="13" name="Shape 10"/>
          <p:cNvSpPr/>
          <p:nvPr/>
        </p:nvSpPr>
        <p:spPr>
          <a:xfrm>
            <a:off x="661475" y="5092402"/>
            <a:ext cx="94454" cy="94456"/>
          </a:xfrm>
          <a:prstGeom prst="ellipse">
            <a:avLst/>
          </a:prstGeom>
          <a:solidFill>
            <a:srgbClr val="2150FE"/>
          </a:solidFill>
          <a:ln/>
        </p:spPr>
      </p:sp>
      <p:sp>
        <p:nvSpPr>
          <p:cNvPr id="14" name="Text 11"/>
          <p:cNvSpPr/>
          <p:nvPr/>
        </p:nvSpPr>
        <p:spPr>
          <a:xfrm>
            <a:off x="944936" y="4991993"/>
            <a:ext cx="492033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C4C4D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Priority split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944936" y="5476280"/>
            <a:ext cx="4920333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P1 Immediate Review: 94 • P2 High: 779 • P3 Review: 9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332776" y="169197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52D47"/>
                </a:solidFill>
                <a:latin typeface="Crimson Pro SemiBold" pitchFamily="34" charset="0"/>
                <a:ea typeface="Crimson Pro SemiBold" pitchFamily="34" charset="-122"/>
                <a:cs typeface="Crimson Pro SemiBold" pitchFamily="34" charset="-120"/>
              </a:rPr>
              <a:t>Network overview</a:t>
            </a:r>
            <a:endParaRPr lang="en-US" sz="1850" dirty="0"/>
          </a:p>
        </p:txBody>
      </p:sp>
      <p:sp>
        <p:nvSpPr>
          <p:cNvPr id="17" name="Text 14"/>
          <p:cNvSpPr/>
          <p:nvPr/>
        </p:nvSpPr>
        <p:spPr>
          <a:xfrm>
            <a:off x="6332776" y="2176264"/>
            <a:ext cx="5203794" cy="617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Users </a:t>
            </a:r>
            <a:r>
              <a:rPr lang="en-US" sz="14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↔</a:t>
            </a:r>
            <a:r>
              <a:rPr lang="en-US" sz="14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Merchants transactions; clusters are signals for deeper review, not proof of rings.</a:t>
            </a:r>
            <a:endParaRPr lang="en-US" sz="145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776" y="3006427"/>
            <a:ext cx="5203794" cy="3009999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A3722BC-61A3-93BD-BAC4-24E0EB37AF57}"/>
              </a:ext>
            </a:extLst>
          </p:cNvPr>
          <p:cNvSpPr/>
          <p:nvPr/>
        </p:nvSpPr>
        <p:spPr>
          <a:xfrm>
            <a:off x="10933061" y="6477098"/>
            <a:ext cx="1194318" cy="29527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575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Heebo</vt:lpstr>
      <vt:lpstr>Crimson Pro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vikash katiki</cp:lastModifiedBy>
  <cp:revision>2</cp:revision>
  <dcterms:created xsi:type="dcterms:W3CDTF">2026-09-16T16:19:03Z</dcterms:created>
  <dcterms:modified xsi:type="dcterms:W3CDTF">2026-09-16T16:21:07Z</dcterms:modified>
</cp:coreProperties>
</file>